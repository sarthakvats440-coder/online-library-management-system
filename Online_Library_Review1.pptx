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841501b-9d4b-e4a6-31c6-c65fb75d4cad}">
          <p14:sldIdLst>
            <p14:sldId id="256"/>
          </p14:sldIdLst>
        </p14:section>
        <p14:section name="Design" id="{5213d890-601e-53de-2bbf-2bbadb28aa8d}">
          <p14:sldIdLst>
            <p14:sldId id="257"/>
            <p14:sldId id="258"/>
            <p14:sldId id="259"/>
          </p14:sldIdLst>
        </p14:section>
        <p14:section name="Database" id="{abf483d4-54a1-1d6f-c50c-a96833df6cc7}">
          <p14:sldIdLst>
            <p14:sldId id="260"/>
            <p14:sldId id="261"/>
            <p14:sldId id="262"/>
          </p14:sldIdLst>
        </p14:section>
        <p14:section name="User interface" id="{4e2e258f-6247-2116-43b7-54c4c96518b3}">
          <p14:sldIdLst>
            <p14:sldId id="263"/>
            <p14:sldId id="264"/>
          </p14:sldIdLst>
        </p14:section>
        <p14:section name="Assessment" id="{17b00989-d22a-bfaf-9930-c7b73bd17904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web based library system with two roles. Review 1 covers structure, database design and connectivity, and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Online Library Management System · Review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11887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Library Management System</a:t>
            </a:r>
            <a:endParaRPr lang="en-US" sz="4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Review 1: Project structure, database design and UI</a:t>
            </a:r>
            <a:endParaRPr lang="en-US" sz="2000" dirty="0"/>
          </a:p>
        </p:txBody>
      </p:sp>
      <p:sp>
        <p:nvSpPr>
          <p:cNvPr id="4" name="Stack"/>
          <p:cNvSpPr txBox="1"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Java Web  ·  Servlets  ·  JSP  ·  JDBC  ·  MySQL</a:t>
            </a:r>
            <a:endParaRPr lang="en-US" sz="1600" dirty="0"/>
          </a:p>
        </p:txBody>
      </p:sp>
      <p:sp>
        <p:nvSpPr>
          <p:cNvPr id="5" name="Event"/>
          <p:cNvSpPr txBox="1"/>
          <p:nvPr/>
        </p:nvSpPr>
        <p:spPr>
          <a:xfrm>
            <a:off x="548640" y="4114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GUVI × Galgotias Project Board · 3rd Semester</a:t>
            </a:r>
            <a:endParaRPr lang="en-US" sz="1400" dirty="0"/>
          </a:p>
        </p:txBody>
      </p:sp>
      <p:sp>
        <p:nvSpPr>
          <p:cNvPr id="6" name="Repo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github.com/sarthakvats440-coder/online-library-management-system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Problem and objectives</a:t>
            </a:r>
            <a:endParaRPr lang="en-US" sz="3000" dirty="0"/>
          </a:p>
        </p:txBody>
      </p:sp>
      <p:sp>
        <p:nvSpPr>
          <p:cNvPr id="3" name="ProblemCard"/>
          <p:cNvSpPr/>
          <p:nvPr/>
        </p:nvSpPr>
        <p:spPr>
          <a:xfrm>
            <a:off x="457200" y="1097280"/>
            <a:ext cx="384048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roblemText"/>
          <p:cNvSpPr txBox="1"/>
          <p:nvPr/>
        </p:nvSpPr>
        <p:spPr>
          <a:xfrm>
            <a:off x="685800" y="1280160"/>
            <a:ext cx="3383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The problem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Small libraries track books and loans on paper or in spreadsheets. Stock counts drift, overdue books go unnoticed, and members cannot see what is available.</a:t>
            </a:r>
            <a:endParaRPr lang="en-US" sz="2000" dirty="0"/>
          </a:p>
        </p:txBody>
      </p:sp>
      <p:sp>
        <p:nvSpPr>
          <p:cNvPr id="5" name="Num1"/>
          <p:cNvSpPr/>
          <p:nvPr/>
        </p:nvSpPr>
        <p:spPr>
          <a:xfrm>
            <a:off x="4572000" y="11887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Text1"/>
          <p:cNvSpPr txBox="1"/>
          <p:nvPr/>
        </p:nvSpPr>
        <p:spPr>
          <a:xfrm>
            <a:off x="45720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Obj1"/>
          <p:cNvSpPr txBox="1"/>
          <p:nvPr/>
        </p:nvSpPr>
        <p:spPr>
          <a:xfrm>
            <a:off x="5257800" y="10972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One catalogue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Books with live available-copy counts</a:t>
            </a:r>
            <a:endParaRPr lang="en-US" sz="1700" dirty="0"/>
          </a:p>
        </p:txBody>
      </p:sp>
      <p:sp>
        <p:nvSpPr>
          <p:cNvPr id="8" name="Num2"/>
          <p:cNvSpPr/>
          <p:nvPr/>
        </p:nvSpPr>
        <p:spPr>
          <a:xfrm>
            <a:off x="4572000" y="20574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NumText2"/>
          <p:cNvSpPr txBox="1"/>
          <p:nvPr/>
        </p:nvSpPr>
        <p:spPr>
          <a:xfrm>
            <a:off x="45720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Obj2"/>
          <p:cNvSpPr txBox="1"/>
          <p:nvPr/>
        </p:nvSpPr>
        <p:spPr>
          <a:xfrm>
            <a:off x="5257800" y="19659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Two roles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Librarian manages, member borrows</a:t>
            </a:r>
            <a:endParaRPr lang="en-US" sz="1700" dirty="0"/>
          </a:p>
        </p:txBody>
      </p:sp>
      <p:sp>
        <p:nvSpPr>
          <p:cNvPr id="11" name="Num3"/>
          <p:cNvSpPr/>
          <p:nvPr/>
        </p:nvSpPr>
        <p:spPr>
          <a:xfrm>
            <a:off x="4572000" y="2926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umText3"/>
          <p:cNvSpPr txBox="1"/>
          <p:nvPr/>
        </p:nvSpPr>
        <p:spPr>
          <a:xfrm>
            <a:off x="45720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Obj3"/>
          <p:cNvSpPr txBox="1"/>
          <p:nvPr/>
        </p:nvSpPr>
        <p:spPr>
          <a:xfrm>
            <a:off x="5257800" y="28346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Safe loans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Borrow and return are atomic in MySQL</a:t>
            </a:r>
            <a:endParaRPr lang="en-US" sz="1700" dirty="0"/>
          </a:p>
        </p:txBody>
      </p:sp>
      <p:sp>
        <p:nvSpPr>
          <p:cNvPr id="14" name="Num4"/>
          <p:cNvSpPr/>
          <p:nvPr/>
        </p:nvSpPr>
        <p:spPr>
          <a:xfrm>
            <a:off x="4572000" y="3794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NumText4"/>
          <p:cNvSpPr txBox="1"/>
          <p:nvPr/>
        </p:nvSpPr>
        <p:spPr>
          <a:xfrm>
            <a:off x="45720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Obj4"/>
          <p:cNvSpPr txBox="1"/>
          <p:nvPr/>
        </p:nvSpPr>
        <p:spPr>
          <a:xfrm>
            <a:off x="5257800" y="370332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Overdue tracking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 background thread flags late loans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Architecture: five layers</a:t>
            </a:r>
            <a:endParaRPr lang="en-US" sz="3000" dirty="0"/>
          </a:p>
        </p:txBody>
      </p:sp>
      <p:sp>
        <p:nvSpPr>
          <p:cNvPr id="3" name="Layer0"/>
          <p:cNvSpPr/>
          <p:nvPr/>
        </p:nvSpPr>
        <p:spPr>
          <a:xfrm>
            <a:off x="457200" y="1371600"/>
            <a:ext cx="1463040" cy="1920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ayerHead0"/>
          <p:cNvSpPr/>
          <p:nvPr/>
        </p:nvSpPr>
        <p:spPr>
          <a:xfrm>
            <a:off x="457200" y="1371600"/>
            <a:ext cx="1463040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LayerName0"/>
          <p:cNvSpPr txBox="1"/>
          <p:nvPr/>
        </p:nvSpPr>
        <p:spPr>
          <a:xfrm>
            <a:off x="457200" y="1371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Browser</a:t>
            </a:r>
            <a:endParaRPr lang="en-US" sz="1600" dirty="0"/>
          </a:p>
        </p:txBody>
      </p:sp>
      <p:sp>
        <p:nvSpPr>
          <p:cNvPr id="6" name="LayerDesc0"/>
          <p:cNvSpPr txBox="1"/>
          <p:nvPr/>
        </p:nvSpPr>
        <p:spPr>
          <a:xfrm>
            <a:off x="548640" y="20116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JSP + JSTL pages, responsive CSS</a:t>
            </a:r>
            <a:endParaRPr lang="en-US" sz="1400" dirty="0"/>
          </a:p>
        </p:txBody>
      </p:sp>
      <p:sp>
        <p:nvSpPr>
          <p:cNvPr id="7" name="Arrow0"/>
          <p:cNvSpPr txBox="1"/>
          <p:nvPr/>
        </p:nvSpPr>
        <p:spPr>
          <a:xfrm>
            <a:off x="1920240" y="20116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Layer1"/>
          <p:cNvSpPr/>
          <p:nvPr/>
        </p:nvSpPr>
        <p:spPr>
          <a:xfrm>
            <a:off x="2121408" y="1371600"/>
            <a:ext cx="1463040" cy="1920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LayerHead1"/>
          <p:cNvSpPr/>
          <p:nvPr/>
        </p:nvSpPr>
        <p:spPr>
          <a:xfrm>
            <a:off x="2121408" y="1371600"/>
            <a:ext cx="1463040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LayerName1"/>
          <p:cNvSpPr txBox="1"/>
          <p:nvPr/>
        </p:nvSpPr>
        <p:spPr>
          <a:xfrm>
            <a:off x="2121408" y="1371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Servlets</a:t>
            </a:r>
            <a:endParaRPr lang="en-US" sz="1600" dirty="0"/>
          </a:p>
        </p:txBody>
      </p:sp>
      <p:sp>
        <p:nvSpPr>
          <p:cNvPr id="11" name="LayerDesc1"/>
          <p:cNvSpPr txBox="1"/>
          <p:nvPr/>
        </p:nvSpPr>
        <p:spPr>
          <a:xfrm>
            <a:off x="2212848" y="20116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Controllers: login, books, borrow</a:t>
            </a:r>
            <a:endParaRPr lang="en-US" sz="1400" dirty="0"/>
          </a:p>
        </p:txBody>
      </p:sp>
      <p:sp>
        <p:nvSpPr>
          <p:cNvPr id="12" name="Arrow1"/>
          <p:cNvSpPr txBox="1"/>
          <p:nvPr/>
        </p:nvSpPr>
        <p:spPr>
          <a:xfrm>
            <a:off x="3584448" y="20116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Layer2"/>
          <p:cNvSpPr/>
          <p:nvPr/>
        </p:nvSpPr>
        <p:spPr>
          <a:xfrm>
            <a:off x="3785616" y="1371600"/>
            <a:ext cx="1463040" cy="1920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LayerHead2"/>
          <p:cNvSpPr/>
          <p:nvPr/>
        </p:nvSpPr>
        <p:spPr>
          <a:xfrm>
            <a:off x="3785616" y="1371600"/>
            <a:ext cx="1463040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LayerName2"/>
          <p:cNvSpPr txBox="1"/>
          <p:nvPr/>
        </p:nvSpPr>
        <p:spPr>
          <a:xfrm>
            <a:off x="3785616" y="1371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Service</a:t>
            </a:r>
            <a:endParaRPr lang="en-US" sz="1600" dirty="0"/>
          </a:p>
        </p:txBody>
      </p:sp>
      <p:sp>
        <p:nvSpPr>
          <p:cNvPr id="16" name="LayerDesc2"/>
          <p:cNvSpPr txBox="1"/>
          <p:nvPr/>
        </p:nvSpPr>
        <p:spPr>
          <a:xfrm>
            <a:off x="3877056" y="20116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Validation and report logic</a:t>
            </a:r>
            <a:endParaRPr lang="en-US" sz="1400" dirty="0"/>
          </a:p>
        </p:txBody>
      </p:sp>
      <p:sp>
        <p:nvSpPr>
          <p:cNvPr id="17" name="Arrow2"/>
          <p:cNvSpPr txBox="1"/>
          <p:nvPr/>
        </p:nvSpPr>
        <p:spPr>
          <a:xfrm>
            <a:off x="5248656" y="20116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Layer3"/>
          <p:cNvSpPr/>
          <p:nvPr/>
        </p:nvSpPr>
        <p:spPr>
          <a:xfrm>
            <a:off x="5449824" y="1371600"/>
            <a:ext cx="1463040" cy="1920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LayerHead3"/>
          <p:cNvSpPr/>
          <p:nvPr/>
        </p:nvSpPr>
        <p:spPr>
          <a:xfrm>
            <a:off x="5449824" y="1371600"/>
            <a:ext cx="1463040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LayerName3"/>
          <p:cNvSpPr txBox="1"/>
          <p:nvPr/>
        </p:nvSpPr>
        <p:spPr>
          <a:xfrm>
            <a:off x="5449824" y="1371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DAO</a:t>
            </a:r>
            <a:endParaRPr lang="en-US" sz="1600" dirty="0"/>
          </a:p>
        </p:txBody>
      </p:sp>
      <p:sp>
        <p:nvSpPr>
          <p:cNvPr id="21" name="LayerDesc3"/>
          <p:cNvSpPr txBox="1"/>
          <p:nvPr/>
        </p:nvSpPr>
        <p:spPr>
          <a:xfrm>
            <a:off x="5541264" y="20116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JDBC and SQL for each table</a:t>
            </a:r>
            <a:endParaRPr lang="en-US" sz="1400" dirty="0"/>
          </a:p>
        </p:txBody>
      </p:sp>
      <p:sp>
        <p:nvSpPr>
          <p:cNvPr id="22" name="Arrow3"/>
          <p:cNvSpPr txBox="1"/>
          <p:nvPr/>
        </p:nvSpPr>
        <p:spPr>
          <a:xfrm>
            <a:off x="6912864" y="20116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Layer4"/>
          <p:cNvSpPr/>
          <p:nvPr/>
        </p:nvSpPr>
        <p:spPr>
          <a:xfrm>
            <a:off x="7114032" y="1371600"/>
            <a:ext cx="1463040" cy="1920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LayerHead4"/>
          <p:cNvSpPr/>
          <p:nvPr/>
        </p:nvSpPr>
        <p:spPr>
          <a:xfrm>
            <a:off x="7114032" y="1371600"/>
            <a:ext cx="1463040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LayerName4"/>
          <p:cNvSpPr txBox="1"/>
          <p:nvPr/>
        </p:nvSpPr>
        <p:spPr>
          <a:xfrm>
            <a:off x="7114032" y="1371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MySQL</a:t>
            </a:r>
            <a:endParaRPr lang="en-US" sz="1600" dirty="0"/>
          </a:p>
        </p:txBody>
      </p:sp>
      <p:sp>
        <p:nvSpPr>
          <p:cNvPr id="26" name="LayerDesc4"/>
          <p:cNvSpPr txBox="1"/>
          <p:nvPr/>
        </p:nvSpPr>
        <p:spPr>
          <a:xfrm>
            <a:off x="7205472" y="20116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users, books, transactions</a:t>
            </a:r>
            <a:endParaRPr lang="en-US" sz="1400" dirty="0"/>
          </a:p>
        </p:txBody>
      </p:sp>
      <p:sp>
        <p:nvSpPr>
          <p:cNvPr id="27" name="CrossCutting"/>
          <p:cNvSpPr txBox="1"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Cross-cutting: AuthFilter protects every page · OverdueScheduler runs on its own thread · DBConnection reads db.properties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Project structure</a:t>
            </a:r>
            <a:endParaRPr lang="en-US" sz="3000" dirty="0"/>
          </a:p>
        </p:txBody>
      </p:sp>
      <p:sp>
        <p:nvSpPr>
          <p:cNvPr id="3" name="TreeBox"/>
          <p:cNvSpPr/>
          <p:nvPr/>
        </p:nvSpPr>
        <p:spPr>
          <a:xfrm>
            <a:off x="457200" y="1097280"/>
            <a:ext cx="4206240" cy="34747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reeText"/>
          <p:cNvSpPr txBox="1"/>
          <p:nvPr/>
        </p:nvSpPr>
        <p:spPr>
          <a:xfrm>
            <a:off x="64008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web-app/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sql/  schema.sql, seed.sql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src/main/resources/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db.properties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src/main/java/com/library/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model/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dao/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service/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servlet/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filter/  listener/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exception/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util/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src/main/webapp/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 *.jsp  css/style.css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 WEB-INF/web.xml</a:t>
            </a:r>
            <a:endParaRPr lang="en-US" sz="1200" dirty="0"/>
          </a:p>
        </p:txBody>
      </p:sp>
      <p:sp>
        <p:nvSpPr>
          <p:cNvPr id="5" name="Pkg0"/>
          <p:cNvSpPr txBox="1"/>
          <p:nvPr/>
        </p:nvSpPr>
        <p:spPr>
          <a:xfrm>
            <a:off x="4937760" y="10972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model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User (abstract), Member, Librarian, Book, Transaction</a:t>
            </a:r>
            <a:endParaRPr lang="en-US" sz="1600" dirty="0"/>
          </a:p>
        </p:txBody>
      </p:sp>
      <p:sp>
        <p:nvSpPr>
          <p:cNvPr id="6" name="Pkg1"/>
          <p:cNvSpPr txBox="1"/>
          <p:nvPr/>
        </p:nvSpPr>
        <p:spPr>
          <a:xfrm>
            <a:off x="4937760" y="179222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CrudDAO&lt;T,ID&gt;, Searchable&lt;T&gt;, three DAO classes</a:t>
            </a:r>
            <a:endParaRPr lang="en-US" sz="1600" dirty="0"/>
          </a:p>
        </p:txBody>
      </p:sp>
      <p:sp>
        <p:nvSpPr>
          <p:cNvPr id="7" name="Pkg2"/>
          <p:cNvSpPr txBox="1"/>
          <p:nvPr/>
        </p:nvSpPr>
        <p:spPr>
          <a:xfrm>
            <a:off x="4937760" y="248716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service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LibraryService: validation and reports</a:t>
            </a:r>
            <a:endParaRPr lang="en-US" sz="1600" dirty="0"/>
          </a:p>
        </p:txBody>
      </p:sp>
      <p:sp>
        <p:nvSpPr>
          <p:cNvPr id="8" name="Pkg3"/>
          <p:cNvSpPr txBox="1"/>
          <p:nvPr/>
        </p:nvSpPr>
        <p:spPr>
          <a:xfrm>
            <a:off x="4937760" y="31821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servlet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 controllers, one per feature</a:t>
            </a:r>
            <a:endParaRPr lang="en-US" sz="1600" dirty="0"/>
          </a:p>
        </p:txBody>
      </p:sp>
      <p:sp>
        <p:nvSpPr>
          <p:cNvPr id="9" name="Pkg4"/>
          <p:cNvSpPr txBox="1"/>
          <p:nvPr/>
        </p:nvSpPr>
        <p:spPr>
          <a:xfrm>
            <a:off x="4937760" y="387705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util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DBConnection (JDBC), PasswordUtil (SHA-256)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Database design: ER diagram</a:t>
            </a:r>
            <a:endParaRPr lang="en-US" sz="3000" dirty="0"/>
          </a:p>
        </p:txBody>
      </p:sp>
      <p:pic>
        <p:nvPicPr>
          <p:cNvPr id="3" name="Image 0" descr="ER diagram with users, books and transactions 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486400" cy="3307052"/>
          </a:xfrm>
          <a:prstGeom prst="rect">
            <a:avLst/>
          </a:prstGeom>
        </p:spPr>
      </p:pic>
      <p:sp>
        <p:nvSpPr>
          <p:cNvPr id="4" name="ERNotes"/>
          <p:cNvSpPr txBox="1"/>
          <p:nvPr/>
        </p:nvSpPr>
        <p:spPr>
          <a:xfrm>
            <a:off x="6217920" y="118872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Relationships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user has many transactions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book appears in many transactions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Deleting a user or book removes its transactions (ON DELETE CASCADE)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Tables, keys and constraints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74320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columns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enforced by MySQL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 (PK), email, 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UNIQUE · role is LIBRARIAN or MEMBER · password stored as SHA-256 hash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book_id (PK), isbn, title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isbn UNIQUE · available_copies between 0 and total_copies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txn_id (PK), book_id (FK), user_id (FK)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is BORROWED, RETURNED or OVERDUE · index on (status, due_date)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SqlNote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Full SQL: web-app/sql/schema.sql (tables) and seed.sql (demo data)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JDBC connectivity</a:t>
            </a:r>
            <a:endParaRPr lang="en-US" sz="3000" dirty="0"/>
          </a:p>
        </p:txBody>
      </p:sp>
      <p:sp>
        <p:nvSpPr>
          <p:cNvPr id="3" name="CodeBox"/>
          <p:cNvSpPr/>
          <p:nvPr/>
        </p:nvSpPr>
        <p:spPr>
          <a:xfrm>
            <a:off x="457200" y="1097280"/>
            <a:ext cx="4937760" cy="34747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Text"/>
          <p:cNvSpPr txBox="1"/>
          <p:nvPr/>
        </p:nvSpPr>
        <p:spPr>
          <a:xfrm>
            <a:off x="640080" y="123444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DBConnection.java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Class.forName("com.mysql.cj.jdbc.Driver");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DriverManager.getConnection(url, user, pw);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TransactionDAO.borrow()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c.setAutoCommit(false);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... FROM books WHERE book_id=? FOR UPDATE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transactions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books SET available_copies = ... - 1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c.commit();   // or c.rollback() on error</a:t>
            </a:r>
            <a:endParaRPr lang="en-US" sz="1200" dirty="0"/>
          </a:p>
        </p:txBody>
      </p:sp>
      <p:sp>
        <p:nvSpPr>
          <p:cNvPr id="5" name="Jdbc0"/>
          <p:cNvSpPr txBox="1"/>
          <p:nvPr/>
        </p:nvSpPr>
        <p:spPr>
          <a:xfrm>
            <a:off x="5669280" y="10972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Config in a file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URL, user and password live in db.properties</a:t>
            </a:r>
            <a:endParaRPr lang="en-US" sz="1600" dirty="0"/>
          </a:p>
        </p:txBody>
      </p:sp>
      <p:sp>
        <p:nvSpPr>
          <p:cNvPr id="6" name="Jdbc1"/>
          <p:cNvSpPr txBox="1"/>
          <p:nvPr/>
        </p:nvSpPr>
        <p:spPr>
          <a:xfrm>
            <a:off x="5669280" y="19659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PreparedStatement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query is parameterised, so no SQL injection</a:t>
            </a:r>
            <a:endParaRPr lang="en-US" sz="1600" dirty="0"/>
          </a:p>
        </p:txBody>
      </p:sp>
      <p:sp>
        <p:nvSpPr>
          <p:cNvPr id="7" name="Jdbc2"/>
          <p:cNvSpPr txBox="1"/>
          <p:nvPr/>
        </p:nvSpPr>
        <p:spPr>
          <a:xfrm>
            <a:off x="5669280" y="2834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try-with-resources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Connections always close, even on errors</a:t>
            </a:r>
            <a:endParaRPr lang="en-US" sz="1600" dirty="0"/>
          </a:p>
        </p:txBody>
      </p:sp>
      <p:sp>
        <p:nvSpPr>
          <p:cNvPr id="8" name="Jdbc3"/>
          <p:cNvSpPr txBox="1"/>
          <p:nvPr/>
        </p:nvSpPr>
        <p:spPr>
          <a:xfrm>
            <a:off x="5669280" y="3703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Atomic loans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Row lock plus commit or rollback prevents overbooking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UI design: catalogue for both roles</a:t>
            </a:r>
            <a:endParaRPr lang="en-US" sz="3000" dirty="0"/>
          </a:p>
        </p:txBody>
      </p:sp>
      <p:pic>
        <p:nvPicPr>
          <p:cNvPr id="3" name="Image 0" descr="Member catalogue with Borrow butt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977640" cy="1880681"/>
          </a:xfrm>
          <a:prstGeom prst="rect">
            <a:avLst/>
          </a:prstGeom>
        </p:spPr>
      </p:pic>
      <p:pic>
        <p:nvPicPr>
          <p:cNvPr id="4" name="Image 1" descr="Librarian catalogue with Edit and Delete butt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097280"/>
            <a:ext cx="3977640" cy="1880681"/>
          </a:xfrm>
          <a:prstGeom prst="rect">
            <a:avLst/>
          </a:prstGeom>
        </p:spPr>
      </p:pic>
      <p:sp>
        <p:nvSpPr>
          <p:cNvPr id="5" name="MemberCaption"/>
          <p:cNvSpPr txBox="1"/>
          <p:nvPr/>
        </p:nvSpPr>
        <p:spPr>
          <a:xfrm>
            <a:off x="457200" y="320040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Member view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Search, availability badge, Borrow button (disabled when stock is 0)</a:t>
            </a:r>
            <a:endParaRPr lang="en-US" sz="1600" dirty="0"/>
          </a:p>
        </p:txBody>
      </p:sp>
      <p:sp>
        <p:nvSpPr>
          <p:cNvPr id="6" name="LibCaption"/>
          <p:cNvSpPr txBox="1"/>
          <p:nvPr/>
        </p:nvSpPr>
        <p:spPr>
          <a:xfrm>
            <a:off x="4709160" y="320040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Librarian view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page, with Add, Edit and Delete instead of Borrow</a:t>
            </a:r>
            <a:endParaRPr lang="en-US" sz="1600" dirty="0"/>
          </a:p>
        </p:txBody>
      </p:sp>
      <p:sp>
        <p:nvSpPr>
          <p:cNvPr id="7" name="MockNote"/>
          <p:cNvSpPr txBox="1"/>
          <p:nvPr/>
        </p:nvSpPr>
        <p:spPr>
          <a:xfrm>
            <a:off x="45720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Design mockups rendered from the project's own CSS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Dashboard and responsive layout</a:t>
            </a:r>
            <a:endParaRPr lang="en-US" sz="3000" dirty="0"/>
          </a:p>
        </p:txBody>
      </p:sp>
      <p:pic>
        <p:nvPicPr>
          <p:cNvPr id="3" name="Image 0" descr="Librarian dashboard with stat ti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754880" cy="2248170"/>
          </a:xfrm>
          <a:prstGeom prst="rect">
            <a:avLst/>
          </a:prstGeom>
        </p:spPr>
      </p:pic>
      <p:sp>
        <p:nvSpPr>
          <p:cNvPr id="4" name="DashNotes"/>
          <p:cNvSpPr txBox="1"/>
          <p:nvPr/>
        </p:nvSpPr>
        <p:spPr>
          <a:xfrm>
            <a:off x="457200" y="34747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Dashboard tiles show titles, copies, available, borrowed, members and overdue loans.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Light and dark theme follow the device setting.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Below 700 px the tables turn into stacked cards.</a:t>
            </a:r>
            <a:endParaRPr lang="en-US" sz="1400" dirty="0"/>
          </a:p>
        </p:txBody>
      </p:sp>
      <p:pic>
        <p:nvPicPr>
          <p:cNvPr id="5" name="Image 1" descr="Phone-width layout of the catalog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51560"/>
            <a:ext cx="1520830" cy="3291840"/>
          </a:xfrm>
          <a:prstGeom prst="rect">
            <a:avLst/>
          </a:prstGeom>
        </p:spPr>
      </p:pic>
      <p:sp>
        <p:nvSpPr>
          <p:cNvPr id="6" name="PhoneCaption"/>
          <p:cNvSpPr txBox="1"/>
          <p:nvPr/>
        </p:nvSpPr>
        <p:spPr>
          <a:xfrm>
            <a:off x="6035040" y="4434840"/>
            <a:ext cx="15208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Phone width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Core Java concepts and where they live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Inheritance, abstraction, polymorphism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(abstract) → Member, Librarian; getRole() and getHomePath() overridden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Interfaces and generics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CrudDAO&lt;T,ID&gt; and Searchable&lt;T&gt;, implemented by the DAOs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handling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LibraryException, BookNotAvailableException, rollback on failure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List, LinkedHashMap, TreeMap and streams in LibraryService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Multithreading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OverdueScheduler: scheduled thread, AtomicInteger counter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Marking rubric: Java web projects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22960"/>
                <a:gridCol w="4480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Rubric 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in the project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understanding and solution design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slide, two roles, layered architecture, ER diagram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Java concepts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OOP, generics, exceptions, collections, threads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integration (JDBC)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DBConnection, three DAOs, commit and rollback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Servlets and web integration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servlets, filter, listener, session login, JSP views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otal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Total: 33 marks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Title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and next steps</a:t>
            </a:r>
            <a:endParaRPr lang="en-US" sz="3600" dirty="0"/>
          </a:p>
        </p:txBody>
      </p:sp>
      <p:sp>
        <p:nvSpPr>
          <p:cNvPr id="3" name="EndCard0"/>
          <p:cNvSpPr/>
          <p:nvPr/>
        </p:nvSpPr>
        <p:spPr>
          <a:xfrm>
            <a:off x="548640" y="1463040"/>
            <a:ext cx="3840480" cy="2926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EndText0"/>
          <p:cNvSpPr txBox="1"/>
          <p:nvPr/>
        </p:nvSpPr>
        <p:spPr>
          <a:xfrm>
            <a:off x="777240" y="164592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accent6"/>
                </a:solidFill>
              </a:rPr>
              <a:t>Done for Review 1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Project structure and packages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MySQL schema and seed data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JDBC classes and transactions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Servlets, JSP pages, responsive CSS</a:t>
            </a:r>
            <a:endParaRPr lang="en-US" sz="2000" dirty="0"/>
          </a:p>
        </p:txBody>
      </p:sp>
      <p:sp>
        <p:nvSpPr>
          <p:cNvPr id="5" name="EndCard1"/>
          <p:cNvSpPr/>
          <p:nvPr/>
        </p:nvSpPr>
        <p:spPr>
          <a:xfrm>
            <a:off x="4663440" y="1463040"/>
            <a:ext cx="3840480" cy="2926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EndText1"/>
          <p:cNvSpPr txBox="1"/>
          <p:nvPr/>
        </p:nvSpPr>
        <p:spPr>
          <a:xfrm>
            <a:off x="4892040" y="164592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accent6"/>
                </a:solidFill>
              </a:rPr>
              <a:t>Next (Review 2)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End-to-end testing on Tomcat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Fines for overdue books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Email reminders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Unit tests for DAOs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brary Rust">
  <a:themeElements>
    <a:clrScheme name="Library Rust">
      <a:dk1>
        <a:srgbClr val="2B1810"/>
      </a:dk1>
      <a:lt1>
        <a:srgbClr val="FFFFFF"/>
      </a:lt1>
      <a:dk2>
        <a:srgbClr val="7C2D12"/>
      </a:dk2>
      <a:lt2>
        <a:srgbClr val="F4F1EE"/>
      </a:lt2>
      <a:accent1>
        <a:srgbClr val="7C2D12"/>
      </a:accent1>
      <a:accent2>
        <a:srgbClr val="B45309"/>
      </a:accent2>
      <a:accent3>
        <a:srgbClr val="166534"/>
      </a:accent3>
      <a:accent4>
        <a:srgbClr val="991B1B"/>
      </a:accent4>
      <a:accent5>
        <a:srgbClr val="6B7280"/>
      </a:accent5>
      <a:accent6>
        <a:srgbClr val="D97706"/>
      </a:accent6>
      <a:hlink>
        <a:srgbClr val="7C2D12"/>
      </a:hlink>
      <a:folHlink>
        <a:srgbClr val="6B7280"/>
      </a:folHlink>
    </a:clrScheme>
    <a:fontScheme name="Library Ru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Library Management System - Review 1</dc:title>
  <dc:subject>PptxGenJS Presentation</dc:subject>
  <dc:creator>PptxGenJS</dc:creator>
  <cp:lastModifiedBy>PptxGenJS</cp:lastModifiedBy>
  <cp:revision>1</cp:revision>
  <dcterms:created xsi:type="dcterms:W3CDTF">2026-10-09T18:05:07Z</dcterms:created>
  <dcterms:modified xsi:type="dcterms:W3CDTF">2026-10-09T18:05:07Z</dcterms:modified>
</cp:coreProperties>
</file>